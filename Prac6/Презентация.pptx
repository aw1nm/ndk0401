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2B2A33"/>
                </a:solidFill>
                <a:latin typeface="Calibri"/>
              </a:rPr>
              <a:t>Система учёта книг в библиотеке «Biblioteka»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058400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dirty="0" err="1">
                <a:solidFill>
                  <a:srgbClr val="2B2A33"/>
                </a:solidFill>
                <a:latin typeface="Calibri"/>
              </a:rPr>
              <a:t>Практическая</a:t>
            </a:r>
            <a:r>
              <a:rPr sz="2400" dirty="0">
                <a:solidFill>
                  <a:srgbClr val="2B2A33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B2A33"/>
                </a:solidFill>
                <a:latin typeface="Calibri"/>
              </a:rPr>
              <a:t>работа</a:t>
            </a:r>
            <a:r>
              <a:rPr sz="2400" dirty="0">
                <a:solidFill>
                  <a:srgbClr val="2B2A33"/>
                </a:solidFill>
                <a:latin typeface="Calibri"/>
              </a:rPr>
              <a:t> № 6</a:t>
            </a:r>
          </a:p>
          <a:p>
            <a:pPr>
              <a:spcAft>
                <a:spcPts val="1000"/>
              </a:spcAft>
            </a:pPr>
            <a:r>
              <a:rPr lang="ru-RU" sz="2400" dirty="0" smtClean="0">
                <a:solidFill>
                  <a:srgbClr val="2B2A33"/>
                </a:solidFill>
                <a:latin typeface="Calibri"/>
              </a:rPr>
              <a:t>Озеров Георгий Максимович</a:t>
            </a:r>
            <a:r>
              <a:rPr sz="2400" dirty="0" smtClean="0">
                <a:solidFill>
                  <a:srgbClr val="2B2A33"/>
                </a:solidFill>
                <a:latin typeface="Calibri"/>
              </a:rPr>
              <a:t>, </a:t>
            </a:r>
            <a:r>
              <a:rPr sz="2400" dirty="0" err="1">
                <a:solidFill>
                  <a:srgbClr val="2B2A33"/>
                </a:solidFill>
                <a:latin typeface="Calibri"/>
              </a:rPr>
              <a:t>группа</a:t>
            </a:r>
            <a:r>
              <a:rPr sz="2400" dirty="0">
                <a:solidFill>
                  <a:srgbClr val="2B2A33"/>
                </a:solidFill>
                <a:latin typeface="Calibri"/>
              </a:rPr>
              <a:t> ИСП-271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Цель и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B2A33"/>
                </a:solidFill>
                <a:latin typeface="Calibri"/>
              </a:rPr>
              <a:t>Цель: разработать и сдать веб-систему учёта книг, читателей и выдач для библиотеки.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B2A33"/>
                </a:solidFill>
                <a:latin typeface="Calibri"/>
              </a:rPr>
              <a:t>Задачи: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B2A33"/>
                </a:solidFill>
                <a:latin typeface="Calibri"/>
              </a:rPr>
              <a:t>• спроектировать базу данных и модули;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B2A33"/>
                </a:solidFill>
                <a:latin typeface="Calibri"/>
              </a:rPr>
              <a:t>• реализовать админ-панель и REST API с JWT;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B2A33"/>
                </a:solidFill>
                <a:latin typeface="Calibri"/>
              </a:rPr>
              <a:t>• добавить отчёты и панель заведующего;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B2A33"/>
                </a:solidFill>
                <a:latin typeface="Calibri"/>
              </a:rPr>
              <a:t>• покрыть проект тестами и подготовить документацию.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Схема модулей</a:t>
            </a:r>
          </a:p>
        </p:txBody>
      </p:sp>
      <p:pic>
        <p:nvPicPr>
          <p:cNvPr id="4" name="Picture 3" descr="d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00245"/>
            <a:ext cx="7498079" cy="37890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Пять приложений Django: accounts, catalog, readers, loans, reports.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Отчёты читают данные из остальных модулей через сервис ReportService.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Структура базы данных</a:t>
            </a:r>
          </a:p>
        </p:txBody>
      </p:sp>
      <p:pic>
        <p:nvPicPr>
          <p:cNvPr id="4" name="Picture 3" descr="d_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38799"/>
            <a:ext cx="7498079" cy="371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Автор → книги (1:N).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Читатель и книга связаны через выдачу.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Библиотекарь указывается в читателях и выдачах.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Админ-панель</a:t>
            </a:r>
          </a:p>
        </p:txBody>
      </p:sp>
      <p:pic>
        <p:nvPicPr>
          <p:cNvPr id="4" name="Picture 3" descr="01_admin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5925"/>
            <a:ext cx="7498079" cy="42176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Управление пользователями, авторами, книгами, читателями и выдачами.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Поиск и фильтры в списках.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Каталог книг</a:t>
            </a:r>
          </a:p>
        </p:txBody>
      </p:sp>
      <p:pic>
        <p:nvPicPr>
          <p:cNvPr id="4" name="Picture 3" descr="04_boo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5925"/>
            <a:ext cx="7498079" cy="42176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Название, автор, жанр, шкаф, инвентарный номер.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Статус книги: свободна, забронирована, на руках.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Выдачи и каскад статусов</a:t>
            </a:r>
          </a:p>
        </p:txBody>
      </p:sp>
      <p:pic>
        <p:nvPicPr>
          <p:cNvPr id="4" name="Picture 3" descr="13_book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5925"/>
            <a:ext cx="7498079" cy="42176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Оформление выдачи переводит книгу в статус «Забронирована».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Выдача — «На руках», срок +14 дней; возврат освобождает книгу и считает штраф.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Показатели (KPI)</a:t>
            </a:r>
          </a:p>
        </p:txBody>
      </p:sp>
      <p:pic>
        <p:nvPicPr>
          <p:cNvPr id="4" name="Picture 3" descr="14_kpi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0291"/>
            <a:ext cx="7498079" cy="29289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Выдачи, возвраты, книги на руках, просрочка, штрафы.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Показатели пересчитываются сразу после действий библиотекаря.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REST API</a:t>
            </a:r>
          </a:p>
        </p:txBody>
      </p:sp>
      <p:pic>
        <p:nvPicPr>
          <p:cNvPr id="4" name="Picture 3" descr="08_api_boo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5925"/>
            <a:ext cx="7498079" cy="42176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Адреса /api/books/, /api/readers/, /api/loans/, /api/reports/.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Вход по JWT: Authorization: Bearer &lt;токен&gt;.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Тестирование</a:t>
            </a:r>
          </a:p>
        </p:txBody>
      </p:sp>
      <p:pic>
        <p:nvPicPr>
          <p:cNvPr id="4" name="Picture 3" descr="t2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3612"/>
            <a:ext cx="7498079" cy="29222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26 автотестов: авторизация, каталог, читатели, выдачи, отчёты.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A33"/>
                </a:solidFill>
                <a:latin typeface="Calibri"/>
              </a:rPr>
              <a:t>Все тесты проходят.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2A33"/>
                </a:solidFill>
                <a:latin typeface="Calibri"/>
              </a:rPr>
              <a:t>Итоги и перспективы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Итоги: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• работающая система учёта с админкой, API и дашбордом;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• бизнес-логика выдач в моделях, 26 тестов;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• руководства пользователя и разработчика.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Перспективы: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• уведомления должникам по e-mail;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• электронный каталог для читателей;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B2A33"/>
                </a:solidFill>
                <a:latin typeface="Calibri"/>
              </a:rPr>
              <a:t>• штрих-коды на книгах.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800">
                <a:solidFill>
                  <a:srgbClr val="2B2A33"/>
                </a:solidFill>
                <a:latin typeface="Calibri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310</Words>
  <Application>Microsoft Office PowerPoint</Application>
  <PresentationFormat>Широкоэкранный</PresentationFormat>
  <Paragraphs>45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Админ</cp:lastModifiedBy>
  <cp:revision>2</cp:revision>
  <dcterms:created xsi:type="dcterms:W3CDTF">2026-10-29T22:02:26Z</dcterms:created>
  <dcterms:modified xsi:type="dcterms:W3CDTF">2026-10-30T02:18:10Z</dcterms:modified>
  <cp:category/>
</cp:coreProperties>
</file>